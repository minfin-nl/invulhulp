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iXKOpaSsfwk/Cb3tS+/i/onOw3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D5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1097280"/>
            <a:ext cx="10972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BelastingAdviseur AI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237744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Projectpresentatie — Belastingdienst, Directie Particulieren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310896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A8C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FA8CC"/>
                </a:solidFill>
                <a:latin typeface="Calibri"/>
                <a:ea typeface="Calibri"/>
                <a:cs typeface="Calibri"/>
                <a:sym typeface="Calibri"/>
              </a:rPr>
              <a:t>14 maart 2026  ·  Sanne Visser, Mark de Groot, Joost Bakker, Femke Hoek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A4A80"/>
          </a:solidFill>
          <a:ln cap="flat" cmpd="sng" w="12700">
            <a:solidFill>
              <a:srgbClr val="1A4A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457200" y="6263640"/>
            <a:ext cx="112745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A8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FA8CC"/>
                </a:solidFill>
                <a:latin typeface="Calibri"/>
                <a:ea typeface="Calibri"/>
                <a:cs typeface="Calibri"/>
                <a:sym typeface="Calibri"/>
              </a:rPr>
              <a:t>Vertrouwelijk — intern gebruik Ministerie van Financiën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457200" y="1051560"/>
            <a:ext cx="10972800" cy="45720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457200" y="1280160"/>
            <a:ext cx="502920" cy="475488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1097280" y="1280160"/>
            <a:ext cx="9601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Aanleiding &amp; probleemstelling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57200" y="1847088"/>
            <a:ext cx="502920" cy="475488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1097280" y="1847088"/>
            <a:ext cx="9601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Beoogde oplossing — AI-assistent op MijnBelastingdienst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57200" y="2414016"/>
            <a:ext cx="502920" cy="475488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097280" y="2414016"/>
            <a:ext cx="9601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Systeemarchitectuur (technisch ontwerp)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57200" y="2980944"/>
            <a:ext cx="502920" cy="475488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097280" y="2980944"/>
            <a:ext cx="9601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Gebruikersflow &amp; UX-schets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57200" y="3547872"/>
            <a:ext cx="502920" cy="475488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097280" y="3547872"/>
            <a:ext cx="9601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Privacy &amp; gegevensbescherming (AVG/DPIA)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57200" y="4114800"/>
            <a:ext cx="502920" cy="475488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097280" y="4114800"/>
            <a:ext cx="9601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Risico's &amp; mitigerende maatregelen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57200" y="4681728"/>
            <a:ext cx="502920" cy="475488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097280" y="4681728"/>
            <a:ext cx="9601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Planning &amp; mijlpalen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57200" y="5248656"/>
            <a:ext cx="502920" cy="475488"/>
          </a:xfrm>
          <a:prstGeom prst="rect">
            <a:avLst/>
          </a:prstGeom>
          <a:solidFill>
            <a:srgbClr val="0F2D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097280" y="5248656"/>
            <a:ext cx="9601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Vragen &amp; besluitvorming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Aanleiding &amp; Probleemstelling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457200" y="1051560"/>
            <a:ext cx="10972800" cy="45720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640080" y="137160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• Jaarlijks 1,2 miljoen bellers naar de BelastingTelefoon met vragen over de aanslag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640080" y="2029968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• 68% van de vragen betreft standaardinformatie die ook digitaal beschikbaar 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640080" y="2688336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• Gemiddelde wachttijd: 12 minuten — burgers ervaren dit als frustrerend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640080" y="3346704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• Kosten per telefoongesprek: €14,50 — totaal ca. €17,4 mln per jaar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640080" y="4005072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• Wettelijke plicht tot begrijpelijke informatieverstrekking (Awb art. 3:45)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640080" y="466344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• Bestaande FAQ-pagina's zijn statisch en niet gepersonaliseerd op de aanslag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57200" y="5394960"/>
            <a:ext cx="10972800" cy="731520"/>
          </a:xfrm>
          <a:prstGeom prst="rect">
            <a:avLst/>
          </a:prstGeom>
          <a:solidFill>
            <a:srgbClr val="FFF3CD"/>
          </a:solidFill>
          <a:ln cap="flat" cmpd="sng" w="12700">
            <a:solidFill>
              <a:srgbClr val="FFC1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640080" y="5440680"/>
            <a:ext cx="10607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640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56404"/>
                </a:solidFill>
                <a:latin typeface="Calibri"/>
                <a:ea typeface="Calibri"/>
                <a:cs typeface="Calibri"/>
                <a:sym typeface="Calibri"/>
              </a:rPr>
              <a:t>Doel: 30% reductie van telefonisch contact in 2027 via een AI-gedreven zelfhulpmodule.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Systeemarchitectuur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57200" y="1051560"/>
            <a:ext cx="10972800" cy="45720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7315200" y="1280160"/>
            <a:ext cx="4480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→ LLM: RAG-architectuur op Azure OpenAI (GPT-4o)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7315200" y="2084832"/>
            <a:ext cx="4480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→ Grounding: Belastingwetgeving + persoonlijke aanslagdata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7315200" y="2889504"/>
            <a:ext cx="4480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→ Auth: DigiD Hoog — BSN nooit naar LLM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7315200" y="3694176"/>
            <a:ext cx="44805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→ Hosting: Azure Government Cloud (NL-regio)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Zie PSA bijlage A voor volledig technisch ontwerp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280150"/>
            <a:ext cx="6657476" cy="3328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Gebruikersflow — Burger &amp; AI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57200" y="1051560"/>
            <a:ext cx="10972800" cy="45720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457200" y="466344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1.  Burger logt in via DigiD Hoog op MijnBelastingdienst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57200" y="49834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2.  Navigeert naar "Uitleg bij mijn aanslag"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457200" y="530352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3.  Stelt vraag in natuurlijke taal (tekst of spraak)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57200" y="562356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4.  AI genereert antwoord gebaseerd op persoonlijke aanslag + wetgeving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457200" y="594360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5.  Burger kan vervolgvragen stellen of escaleren naar medewerker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57200" y="626364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6.  Gesprek wordt niet bewaard (privacy by design)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elp me visualiseren van de gebruikersflow van burger &amp; AI met de volgende punten: 1.  Burger logt in via DigiD Hoog op MijnBelastingdienst, 2.  Navigeert naar &quot;Uitleg bij mijn aanslag&quot;, 3.  Stelt vraag in natuurlijke taal (tekst of spraak), 4.  AI genereert antwoord gebaseerd op persoonlijke aanslag + wetgeving, 5.  Burger kan vervolgvragen stellen of escaleren naar medewerker&#10;, 6.  Gesprek wordt niet bewaard (privacy by design)&#10;&#10;&#10;&#10;&#10;" id="85" name="Google Shape;85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200" y="1188725"/>
            <a:ext cx="6710075" cy="3355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CE9F5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Privacy &amp; AVG — Kernpunten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457200" y="1051560"/>
            <a:ext cx="10972800" cy="45720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457200" y="1325880"/>
            <a:ext cx="2560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Grondslag: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3108960" y="1325880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Wettelijke taak Belastingdienst (Awb + AWR) — geen toestemming vereist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457200" y="1947672"/>
            <a:ext cx="2560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Doelbinding: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3108960" y="1947672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Uitsluitend uitleg bij eigen aanslag — geen profilering, geen marketing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457200" y="2569464"/>
            <a:ext cx="2560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Dataminimalisatie: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3108960" y="2569464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Alleen de aanslag van het lopende jaar wordt meegestuurd als context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457200" y="3191256"/>
            <a:ext cx="2560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BSN-bescherming: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3108960" y="3191256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BSN wordt gemaskeerd vóór doorzending naar het AI-model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457200" y="3813048"/>
            <a:ext cx="2560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Bewaartermijn: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3108960" y="3813048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Geen gespreksopslag — sessiedata verdwijnt bij sluiten browser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457200" y="4434840"/>
            <a:ext cx="2560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DPIA: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3108960" y="4434840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Uitgebreide DPIA vereist vóór go-live (zie apart DPIA-document)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457200" y="5056632"/>
            <a:ext cx="25603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Verwerkersovereenkomst: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3108960" y="5056632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VOK met Microsoft/Azure in voorbereiding — DPA-clausules opgenomen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Risico's &amp; Mitigerende Maatregelen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457200" y="1051560"/>
            <a:ext cx="10972800" cy="45720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457200" y="1188720"/>
            <a:ext cx="4069080" cy="411480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530352" y="1188720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Risico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4663440" y="1188720"/>
            <a:ext cx="1051560" cy="411480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4736592" y="1188720"/>
            <a:ext cx="960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5806440" y="1188720"/>
            <a:ext cx="1051560" cy="411480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5879592" y="1188720"/>
            <a:ext cx="960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949440" y="1188720"/>
            <a:ext cx="4526280" cy="411480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7022592" y="1188720"/>
            <a:ext cx="4434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Maatregel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457200" y="1645920"/>
            <a:ext cx="4069080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530352" y="1664208"/>
            <a:ext cx="3977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Hallucination — AI geeft fout fiscaal advies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4663440" y="1645920"/>
            <a:ext cx="1051560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4736592" y="1664208"/>
            <a:ext cx="960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Middel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5806440" y="1645920"/>
            <a:ext cx="1051560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5879592" y="1664208"/>
            <a:ext cx="960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Hoog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6949440" y="1645920"/>
            <a:ext cx="4526280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7022592" y="1664208"/>
            <a:ext cx="4434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Disclaimer + escalatie naar medewerker; antwoorden voorzien van bronvermelding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457200" y="2395728"/>
            <a:ext cx="406908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530352" y="2414016"/>
            <a:ext cx="3977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Dataleak BSN via promptinjectie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663440" y="2395728"/>
            <a:ext cx="105156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4736592" y="2414016"/>
            <a:ext cx="960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Laag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5806440" y="2395728"/>
            <a:ext cx="105156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5879592" y="2414016"/>
            <a:ext cx="960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Zeer hoog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6949440" y="2395728"/>
            <a:ext cx="452628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7022592" y="2414016"/>
            <a:ext cx="4434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BSN-masking voor LLM; red-team tests vóór go-live; pen-test verplicht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457200" y="3145536"/>
            <a:ext cx="4069080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530352" y="3163824"/>
            <a:ext cx="3977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Overbelasting systeem bij aangifte-piek (maart)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663440" y="3145536"/>
            <a:ext cx="1051560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4736592" y="3163824"/>
            <a:ext cx="960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Hoog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5806440" y="3145536"/>
            <a:ext cx="1051560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5879592" y="3163824"/>
            <a:ext cx="960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Middel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949440" y="3145536"/>
            <a:ext cx="4526280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7022592" y="3163824"/>
            <a:ext cx="4434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Auto-scaling Azure; load-test op 5× gemiddeld verkeer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457200" y="3895344"/>
            <a:ext cx="406908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530352" y="3913632"/>
            <a:ext cx="3977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Weerstand medewerkers BelastingTelefoon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4663440" y="3895344"/>
            <a:ext cx="105156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4736592" y="3913632"/>
            <a:ext cx="960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Middel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5806440" y="3895344"/>
            <a:ext cx="105156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5879592" y="3913632"/>
            <a:ext cx="960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Laag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6949440" y="3895344"/>
            <a:ext cx="452628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7022592" y="3913632"/>
            <a:ext cx="4434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Communicatieplan; AI als ondersteuning, geen vervanging positioneren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457200" y="4645152"/>
            <a:ext cx="4069080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530352" y="4663440"/>
            <a:ext cx="3977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Afhankelijkheid Azure OpenAI (vendor lock-in)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663440" y="4645152"/>
            <a:ext cx="1051560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4736592" y="4663440"/>
            <a:ext cx="960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Laag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5806440" y="4645152"/>
            <a:ext cx="1051560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5879592" y="4663440"/>
            <a:ext cx="960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Middel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6949440" y="4645152"/>
            <a:ext cx="4526280" cy="685800"/>
          </a:xfrm>
          <a:prstGeom prst="rect">
            <a:avLst/>
          </a:prstGeom>
          <a:solidFill>
            <a:srgbClr val="F8F9FA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7022592" y="4663440"/>
            <a:ext cx="4434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Abstractielaag in architectuur; jaarlijkse evaluatie alternatieve modellen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Planning &amp; Mijlpalen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457200" y="1051560"/>
            <a:ext cx="10972800" cy="45720"/>
          </a:xfrm>
          <a:prstGeom prst="rect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457200" y="1344168"/>
            <a:ext cx="256032" cy="256032"/>
          </a:xfrm>
          <a:prstGeom prst="ellipse">
            <a:avLst/>
          </a:prstGeom>
          <a:solidFill>
            <a:srgbClr val="1A6B3C"/>
          </a:solidFill>
          <a:ln cap="flat" cmpd="sng" w="12700">
            <a:solidFill>
              <a:srgbClr val="1A6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822960" y="128016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6B3C"/>
                </a:solidFill>
                <a:latin typeface="Calibri"/>
                <a:ea typeface="Calibri"/>
                <a:cs typeface="Calibri"/>
                <a:sym typeface="Calibri"/>
              </a:rPr>
              <a:t>Q1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2377440" y="1280160"/>
            <a:ext cx="8686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Kickoff &amp; DPIA gestart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9875520" y="1280160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6B3C"/>
                </a:solidFill>
                <a:latin typeface="Calibri"/>
                <a:ea typeface="Calibri"/>
                <a:cs typeface="Calibri"/>
                <a:sym typeface="Calibri"/>
              </a:rPr>
              <a:t>✓ gereed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457200" y="1892808"/>
            <a:ext cx="256032" cy="256032"/>
          </a:xfrm>
          <a:prstGeom prst="ellipse">
            <a:avLst/>
          </a:prstGeom>
          <a:solidFill>
            <a:srgbClr val="1A6B3C"/>
          </a:solidFill>
          <a:ln cap="flat" cmpd="sng" w="12700">
            <a:solidFill>
              <a:srgbClr val="1A6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822960" y="182880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6B3C"/>
                </a:solidFill>
                <a:latin typeface="Calibri"/>
                <a:ea typeface="Calibri"/>
                <a:cs typeface="Calibri"/>
                <a:sym typeface="Calibri"/>
              </a:rPr>
              <a:t>Q1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2377440" y="1828800"/>
            <a:ext cx="8686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PSA goedgekeurd door architectuurboard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9875520" y="1828800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B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6B3C"/>
                </a:solidFill>
                <a:latin typeface="Calibri"/>
                <a:ea typeface="Calibri"/>
                <a:cs typeface="Calibri"/>
                <a:sym typeface="Calibri"/>
              </a:rPr>
              <a:t>✓ gereed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457200" y="2441448"/>
            <a:ext cx="256032" cy="256032"/>
          </a:xfrm>
          <a:prstGeom prst="ellipse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822960" y="237744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Q2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2377440" y="2377440"/>
            <a:ext cx="8686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DPIA afgerond &amp; AP-consultatie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457200" y="2990088"/>
            <a:ext cx="256032" cy="256032"/>
          </a:xfrm>
          <a:prstGeom prst="ellipse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822960" y="292608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Q2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2377440" y="2926080"/>
            <a:ext cx="8686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Prototype intern beschikbaar (medewerkers BD)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457200" y="3538728"/>
            <a:ext cx="256032" cy="256032"/>
          </a:xfrm>
          <a:prstGeom prst="ellipse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822960" y="347472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Q3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2377440" y="3474720"/>
            <a:ext cx="8686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Pen-test &amp; security-review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457200" y="4087368"/>
            <a:ext cx="256032" cy="256032"/>
          </a:xfrm>
          <a:prstGeom prst="ellipse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822960" y="402336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Q3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2377440" y="4023360"/>
            <a:ext cx="8686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Verwerkersovereenkomst Microsoft getekend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457200" y="4636008"/>
            <a:ext cx="256032" cy="256032"/>
          </a:xfrm>
          <a:prstGeom prst="ellipse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822960" y="457200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Q4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2377440" y="4572000"/>
            <a:ext cx="8686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Pilotlancering (5.000 gebruikers)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457200" y="5184648"/>
            <a:ext cx="256032" cy="256032"/>
          </a:xfrm>
          <a:prstGeom prst="ellipse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822960" y="512064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Q1 2027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2377440" y="5120640"/>
            <a:ext cx="8686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Evaluatie pilot + besluit brede uitrol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457200" y="5733288"/>
            <a:ext cx="256032" cy="256032"/>
          </a:xfrm>
          <a:prstGeom prst="ellipse">
            <a:avLst/>
          </a:prstGeom>
          <a:solidFill>
            <a:srgbClr val="0F2D5C"/>
          </a:solidFill>
          <a:ln cap="flat" cmpd="sng" w="12700">
            <a:solidFill>
              <a:srgbClr val="0F2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822960" y="5669280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D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2D5C"/>
                </a:solidFill>
                <a:latin typeface="Calibri"/>
                <a:ea typeface="Calibri"/>
                <a:cs typeface="Calibri"/>
                <a:sym typeface="Calibri"/>
              </a:rPr>
              <a:t>Q2 2027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2377440" y="5669280"/>
            <a:ext cx="8686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A4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A4A4A"/>
                </a:solidFill>
                <a:latin typeface="Calibri"/>
                <a:ea typeface="Calibri"/>
                <a:cs typeface="Calibri"/>
                <a:sym typeface="Calibri"/>
              </a:rPr>
              <a:t>Volledige go-live op MijnBelastingdienst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D5C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"/>
          <p:cNvSpPr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Vragen &amp; Besluitvorming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1371600" y="2651760"/>
            <a:ext cx="9144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Ter besluitvorming vandaag: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 Akkoord op het projectvoorstel en het beschikbaar stellen van het budget (€2,4 mln)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 Mandaat voor het starten van de DPIA en het aanvragen van AP-consultatie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 Aanwijzen van een AVG-functionaris als vast aanspreekpunt voor dit project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A8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A8CC"/>
                </a:solidFill>
                <a:latin typeface="Calibri"/>
                <a:ea typeface="Calibri"/>
                <a:cs typeface="Calibri"/>
                <a:sym typeface="Calibri"/>
              </a:rPr>
              <a:t>sanne.visser@belastingdienst.nl  ·  06-21458800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2026-06-25T07:33:49Z</dcterms:created>
  <dc:creator>Ministerie van Financiën</dc:creator>
</cp:coreProperties>
</file>